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EDA91D7A-B5D3-4C27-9C07-E830D1FFB32C}"/>
              </a:ext>
            </a:extLst>
          </p:cNvPr>
          <p:cNvSpPr>
            <a:spLocks noGrp="1"/>
          </p:cNvSpPr>
          <p:nvPr/>
        </p:nvSpPr>
        <p:spPr>
          <a:xfrm>
            <a:off x="8334375" y="-1143000"/>
            <a:ext cx="4953000" cy="4953000"/>
          </a:xfrm>
          <a:prstGeom prst="ellipse">
            <a:avLst/>
          </a:prstGeom>
          <a:solidFill>
            <a:srgbClr val="164D75"/>
          </a:solidFill>
          <a:ln w="0">
            <a:solidFill>
              <a:srgbClr val="164D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BB3CA3B-2BEB-41C7-93D7-0D6537909F7F}"/>
              </a:ext>
            </a:extLst>
          </p:cNvPr>
          <p:cNvSpPr>
            <a:spLocks noGrp="1"/>
          </p:cNvSpPr>
          <p:nvPr/>
        </p:nvSpPr>
        <p:spPr>
          <a:xfrm>
            <a:off x="9286875" y="3143250"/>
            <a:ext cx="3429000" cy="3429000"/>
          </a:xfrm>
          <a:prstGeom prst="ellipse">
            <a:avLst/>
          </a:prstGeom>
          <a:solidFill>
            <a:srgbClr val="007A82"/>
          </a:solidFill>
          <a:ln w="0">
            <a:solidFill>
              <a:srgbClr val="007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CD335-9DE1-4711-8D28-11826725C60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 i="0">
                <a:solidFill>
                  <a:srgbClr val="81E6D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1E6D9"/>
                </a:solidFill>
                <a:latin typeface="Aptos"/>
                <a:ea typeface="Aptos"/>
                <a:cs typeface="Aptos"/>
              </a:rPr>
              <a:t>STATISTICAL PROJECT REPORT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BF40CF-A9F6-4E63-A62D-9A4FF57FE233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6667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4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Digital Behaviour</a:t>
            </a:r>
          </a:p>
          <a:p>
            <a:pPr>
              <a:defRPr sz="4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Archetypes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2C7821-676F-4A1C-9782-F4E082212320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0" i="0">
                <a:solidFill>
                  <a:srgbClr val="DCEAF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DCEAF6"/>
                </a:solidFill>
                <a:latin typeface="Aptos"/>
                <a:ea typeface="Aptos"/>
                <a:cs typeface="Aptos"/>
              </a:rPr>
              <a:t>Clustering, PCA, and Classification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38361-6347-43BF-A311-E68F17091D4F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A8C6DD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A8C6DD"/>
                </a:solidFill>
                <a:latin typeface="Aptos"/>
                <a:ea typeface="Aptos"/>
                <a:cs typeface="Aptos"/>
              </a:rPr>
              <a:t>Dataset: 500 observations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D5FD7F-B1E1-4981-95A9-14A7F4C730F6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143A59"/>
          </a:solidFill>
          <a:ln w="9525">
            <a:solidFill>
              <a:srgbClr val="24587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399DF-F9CA-421B-8713-456B3387F1D6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 i="0">
                <a:solidFill>
                  <a:srgbClr val="81E6D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1E6D9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BE3D53-A882-4FDD-B472-1FA0E907AF21}"/>
              </a:ext>
            </a:extLst>
          </p:cNvPr>
          <p:cNvSpPr>
            <a:spLocks noGrp="1"/>
          </p:cNvSpPr>
          <p:nvPr/>
        </p:nvSpPr>
        <p:spPr>
          <a:xfrm>
            <a:off x="933450" y="49720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digital behaviour profiles and assess their relationship with wellbeing.</a:t>
            </a:r>
          </a:p>
        </p:txBody>
      </p:sp>
    </p:spTree>
    <p:extLst>
      <p:ext uri="{BB962C8B-B14F-4D97-AF65-F5344CB8AC3E}">
        <p14:creationId xmlns:p14="http://schemas.microsoft.com/office/powerpoint/2010/main" val="86274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226963A3-6714-4759-A617-C0A7CB74AC0C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E6C304-AE58-4174-B783-81A01C9C676E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Project overview and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D1462C-9427-44DB-BE58-8C20AA19DF61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1161D1-6287-48C0-B238-969D47C5B501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8D8AA-6FC2-474E-A546-0882A236FCB9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The study moves from clean data to interpretable behavioural segments and model evaluation.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70007A-2D25-45E0-92E5-02517AC03426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15811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A5F6DA-5CCD-4700-9A53-199804934CC3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84FC62-35F3-4B69-890E-1A27FD510936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125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CABA5-3E02-499E-A6D8-1153A176C788}"/>
              </a:ext>
            </a:extLst>
          </p:cNvPr>
          <p:cNvSpPr>
            <a:spLocks noGrp="1"/>
          </p:cNvSpPr>
          <p:nvPr/>
        </p:nvSpPr>
        <p:spPr>
          <a:xfrm>
            <a:off x="2181225" y="255270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0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50833D-9239-45E6-8E43-06C4EA2B0B8C}"/>
              </a:ext>
            </a:extLst>
          </p:cNvPr>
          <p:cNvSpPr>
            <a:spLocks noGrp="1"/>
          </p:cNvSpPr>
          <p:nvPr/>
        </p:nvSpPr>
        <p:spPr>
          <a:xfrm>
            <a:off x="2419350" y="2143125"/>
            <a:ext cx="15811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D892F-7050-49DF-9CCC-B03671F7B57C}"/>
              </a:ext>
            </a:extLst>
          </p:cNvPr>
          <p:cNvSpPr>
            <a:spLocks noGrp="1"/>
          </p:cNvSpPr>
          <p:nvPr/>
        </p:nvSpPr>
        <p:spPr>
          <a:xfrm>
            <a:off x="2590800" y="23050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F4654-60D8-4E07-99F9-A673EECF337C}"/>
              </a:ext>
            </a:extLst>
          </p:cNvPr>
          <p:cNvSpPr>
            <a:spLocks noGrp="1"/>
          </p:cNvSpPr>
          <p:nvPr/>
        </p:nvSpPr>
        <p:spPr>
          <a:xfrm>
            <a:off x="2590800" y="2724150"/>
            <a:ext cx="125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10C60-B592-46FB-AF4C-560A8B754134}"/>
              </a:ext>
            </a:extLst>
          </p:cNvPr>
          <p:cNvSpPr>
            <a:spLocks noGrp="1"/>
          </p:cNvSpPr>
          <p:nvPr/>
        </p:nvSpPr>
        <p:spPr>
          <a:xfrm>
            <a:off x="4029075" y="255270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0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38C9D6-D93C-4F3D-BF0B-4B655650B137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5811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DEE160-A0F5-4758-B26C-43D33065E8CA}"/>
              </a:ext>
            </a:extLst>
          </p:cNvPr>
          <p:cNvSpPr>
            <a:spLocks noGrp="1"/>
          </p:cNvSpPr>
          <p:nvPr/>
        </p:nvSpPr>
        <p:spPr>
          <a:xfrm>
            <a:off x="4438650" y="23050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D788D2-E24B-4E97-A546-3E32C3F39B48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125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8139A1-B542-45D0-9A9A-E833EAD58432}"/>
              </a:ext>
            </a:extLst>
          </p:cNvPr>
          <p:cNvSpPr>
            <a:spLocks noGrp="1"/>
          </p:cNvSpPr>
          <p:nvPr/>
        </p:nvSpPr>
        <p:spPr>
          <a:xfrm>
            <a:off x="5876925" y="255270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0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F785EA-4C2D-4253-BA91-30C2320F34E6}"/>
              </a:ext>
            </a:extLst>
          </p:cNvPr>
          <p:cNvSpPr>
            <a:spLocks noGrp="1"/>
          </p:cNvSpPr>
          <p:nvPr/>
        </p:nvSpPr>
        <p:spPr>
          <a:xfrm>
            <a:off x="6115050" y="2143125"/>
            <a:ext cx="15811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28E3B8-4A68-41B9-8109-0C90FA5040D8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E45E37-0BBC-4406-B76A-5F9C6C2C7DB8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25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7406B3-31DD-472D-A74D-DD35AC3D2ED1}"/>
              </a:ext>
            </a:extLst>
          </p:cNvPr>
          <p:cNvSpPr>
            <a:spLocks noGrp="1"/>
          </p:cNvSpPr>
          <p:nvPr/>
        </p:nvSpPr>
        <p:spPr>
          <a:xfrm>
            <a:off x="7724775" y="255270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0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C966E4-878B-43F9-AA15-CBC74367D8C9}"/>
              </a:ext>
            </a:extLst>
          </p:cNvPr>
          <p:cNvSpPr>
            <a:spLocks noGrp="1"/>
          </p:cNvSpPr>
          <p:nvPr/>
        </p:nvSpPr>
        <p:spPr>
          <a:xfrm>
            <a:off x="7962900" y="2143125"/>
            <a:ext cx="15811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3064E7-B6D1-45F8-8AC7-3498F94E4309}"/>
              </a:ext>
            </a:extLst>
          </p:cNvPr>
          <p:cNvSpPr>
            <a:spLocks noGrp="1"/>
          </p:cNvSpPr>
          <p:nvPr/>
        </p:nvSpPr>
        <p:spPr>
          <a:xfrm>
            <a:off x="8134350" y="23050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3E2889-0BA0-4DA1-A66B-43E94BF96267}"/>
              </a:ext>
            </a:extLst>
          </p:cNvPr>
          <p:cNvSpPr>
            <a:spLocks noGrp="1"/>
          </p:cNvSpPr>
          <p:nvPr/>
        </p:nvSpPr>
        <p:spPr>
          <a:xfrm>
            <a:off x="8134350" y="2724150"/>
            <a:ext cx="125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PCA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9BD14F-9624-4C75-AEAF-E2637FD5ED19}"/>
              </a:ext>
            </a:extLst>
          </p:cNvPr>
          <p:cNvSpPr>
            <a:spLocks noGrp="1"/>
          </p:cNvSpPr>
          <p:nvPr/>
        </p:nvSpPr>
        <p:spPr>
          <a:xfrm>
            <a:off x="9572625" y="255270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0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C158E1-4E09-4FC3-8C77-F81B89CDD3C5}"/>
              </a:ext>
            </a:extLst>
          </p:cNvPr>
          <p:cNvSpPr>
            <a:spLocks noGrp="1"/>
          </p:cNvSpPr>
          <p:nvPr/>
        </p:nvSpPr>
        <p:spPr>
          <a:xfrm>
            <a:off x="9810750" y="2143125"/>
            <a:ext cx="15811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60F5F4-713B-4972-8A77-AEAE0D27A086}"/>
              </a:ext>
            </a:extLst>
          </p:cNvPr>
          <p:cNvSpPr>
            <a:spLocks noGrp="1"/>
          </p:cNvSpPr>
          <p:nvPr/>
        </p:nvSpPr>
        <p:spPr>
          <a:xfrm>
            <a:off x="9982200" y="23050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95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A69514-3883-4706-9399-F71BC6D671DE}"/>
              </a:ext>
            </a:extLst>
          </p:cNvPr>
          <p:cNvSpPr>
            <a:spLocks noGrp="1"/>
          </p:cNvSpPr>
          <p:nvPr/>
        </p:nvSpPr>
        <p:spPr>
          <a:xfrm>
            <a:off x="9982200" y="2724150"/>
            <a:ext cx="125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D81F1-E497-4C2D-84ED-7E60C0676B0E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D8E2F4-34EF-42A1-9999-5AB61766AD59}"/>
              </a:ext>
            </a:extLst>
          </p:cNvPr>
          <p:cNvSpPr>
            <a:spLocks noGrp="1"/>
          </p:cNvSpPr>
          <p:nvPr/>
        </p:nvSpPr>
        <p:spPr>
          <a:xfrm>
            <a:off x="571500" y="4343400"/>
            <a:ext cx="152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7F7ACD-C36D-4476-9662-E10E9CF2890B}"/>
              </a:ext>
            </a:extLst>
          </p:cNvPr>
          <p:cNvSpPr>
            <a:spLocks noGrp="1"/>
          </p:cNvSpPr>
          <p:nvPr/>
        </p:nvSpPr>
        <p:spPr>
          <a:xfrm>
            <a:off x="781050" y="4343400"/>
            <a:ext cx="4743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Assess data quality and relationships with digital wellbeing.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809E0A-1EF5-4939-8D67-836A48BA14DB}"/>
              </a:ext>
            </a:extLst>
          </p:cNvPr>
          <p:cNvSpPr>
            <a:spLocks noGrp="1"/>
          </p:cNvSpPr>
          <p:nvPr/>
        </p:nvSpPr>
        <p:spPr>
          <a:xfrm>
            <a:off x="571500" y="4819650"/>
            <a:ext cx="152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8ADE18-C860-451C-8BF1-7DB7A446C820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4743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Identify exploratory digital behaviour archetypes.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653750-E2F3-4B58-B81B-67413C6538B6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52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54294B-D3C1-4EEF-80F5-1B0C230A8E2E}"/>
              </a:ext>
            </a:extLst>
          </p:cNvPr>
          <p:cNvSpPr>
            <a:spLocks noGrp="1"/>
          </p:cNvSpPr>
          <p:nvPr/>
        </p:nvSpPr>
        <p:spPr>
          <a:xfrm>
            <a:off x="781050" y="5295900"/>
            <a:ext cx="4743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Visualise and classify the resulting clusters.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BD44C1E-3FA3-4205-BDF3-79954EF71B7F}"/>
              </a:ext>
            </a:extLst>
          </p:cNvPr>
          <p:cNvSpPr>
            <a:spLocks noGrp="1"/>
          </p:cNvSpPr>
          <p:nvPr/>
        </p:nvSpPr>
        <p:spPr>
          <a:xfrm>
            <a:off x="6953250" y="4114800"/>
            <a:ext cx="4286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DBE439F-6333-495B-B5BC-15509000316C}"/>
              </a:ext>
            </a:extLst>
          </p:cNvPr>
          <p:cNvSpPr>
            <a:spLocks noGrp="1"/>
          </p:cNvSpPr>
          <p:nvPr/>
        </p:nvSpPr>
        <p:spPr>
          <a:xfrm>
            <a:off x="6953250" y="411480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13B5A6"/>
          </a:solidFill>
          <a:ln w="0">
            <a:solidFill>
              <a:srgbClr val="13B5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3877A8-9C3E-4553-B8AC-60ECBEB532A9}"/>
              </a:ext>
            </a:extLst>
          </p:cNvPr>
          <p:cNvSpPr>
            <a:spLocks noGrp="1"/>
          </p:cNvSpPr>
          <p:nvPr/>
        </p:nvSpPr>
        <p:spPr>
          <a:xfrm>
            <a:off x="7181850" y="4286250"/>
            <a:ext cx="3886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Key result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C32FFF-1F35-4E51-8CE5-3C48310510F8}"/>
              </a:ext>
            </a:extLst>
          </p:cNvPr>
          <p:cNvSpPr>
            <a:spLocks noGrp="1"/>
          </p:cNvSpPr>
          <p:nvPr/>
        </p:nvSpPr>
        <p:spPr>
          <a:xfrm>
            <a:off x="7181850" y="4686300"/>
            <a:ext cx="3905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Three archetypes were selected. Random Forest distinguished them with 93.88% test accuracy.</a:t>
            </a:r>
          </a:p>
        </p:txBody>
      </p:sp>
    </p:spTree>
    <p:extLst>
      <p:ext uri="{BB962C8B-B14F-4D97-AF65-F5344CB8AC3E}">
        <p14:creationId xmlns:p14="http://schemas.microsoft.com/office/powerpoint/2010/main" val="88433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8D166D-ACB2-42BB-90DA-4BF05402AB2F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E72796-A38D-4D86-B1D2-762137116CF3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Dataset and data quality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9A0B7D-F855-4C17-B298-F43869513696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8CB3F1-99FE-4E79-A779-14778B257169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9A09D5-4029-4744-B831-992CBA43F8B1}"/>
              </a:ext>
            </a:extLst>
          </p:cNvPr>
          <p:cNvSpPr>
            <a:spLocks noGrp="1"/>
          </p:cNvSpPr>
          <p:nvPr/>
        </p:nvSpPr>
        <p:spPr>
          <a:xfrm>
            <a:off x="571500" y="12954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500 records · 9 numeric variables · 0 missing values · 0 duplicate records</a:t>
            </a:r>
          </a:p>
        </p:txBody>
      </p:sp>
      <p:graphicFrame>
        <p:nvGraphicFramePr>
          <p:cNvPr id="17" name="Table 16"/>
          <p:cNvGraphicFramePr/>
          <p:nvPr/>
        </p:nvGraphicFramePr>
        <p:xfrm>
          <a:off x="1619250" y="2095500"/>
          <a:ext cx="8953500" cy="2286000"/>
        </p:xfrm>
        <a:graphic>
          <a:graphicData uri="http://schemas.openxmlformats.org/drawingml/2006/table">
            <a:tbl>
              <a:tblPr firstRow="1" bandRow="1"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Digital exposure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Cognitive / wellbeing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Daily screen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Focus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App switches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Mood score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Sleep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Anxiety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Notifications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Digital wellbeing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Social-media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321C0C-F84C-4078-A132-8718FFDC7971}"/>
              </a:ext>
            </a:extLst>
          </p:cNvPr>
          <p:cNvSpPr>
            <a:spLocks noGrp="1"/>
          </p:cNvSpPr>
          <p:nvPr/>
        </p:nvSpPr>
        <p:spPr>
          <a:xfrm>
            <a:off x="2095500" y="4895850"/>
            <a:ext cx="8001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D99920-2785-493B-9A66-BEF92C1C02BA}"/>
              </a:ext>
            </a:extLst>
          </p:cNvPr>
          <p:cNvSpPr>
            <a:spLocks noGrp="1"/>
          </p:cNvSpPr>
          <p:nvPr/>
        </p:nvSpPr>
        <p:spPr>
          <a:xfrm>
            <a:off x="2095500" y="4895850"/>
            <a:ext cx="95250" cy="933450"/>
          </a:xfrm>
          <a:prstGeom prst="roundRect">
            <a:avLst>
              <a:gd name="adj" fmla="val 50000"/>
            </a:avLst>
          </a:prstGeom>
          <a:solidFill>
            <a:srgbClr val="32B768"/>
          </a:solidFill>
          <a:ln w="0">
            <a:solidFill>
              <a:srgbClr val="32B7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2A191-0E81-4BAD-BAA6-A325D9BC44D3}"/>
              </a:ext>
            </a:extLst>
          </p:cNvPr>
          <p:cNvSpPr>
            <a:spLocks noGrp="1"/>
          </p:cNvSpPr>
          <p:nvPr/>
        </p:nvSpPr>
        <p:spPr>
          <a:xfrm>
            <a:off x="2324100" y="5067300"/>
            <a:ext cx="7600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Data readiness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7C5E64-8061-48F7-8379-BA10E2AA13CD}"/>
              </a:ext>
            </a:extLst>
          </p:cNvPr>
          <p:cNvSpPr>
            <a:spLocks noGrp="1"/>
          </p:cNvSpPr>
          <p:nvPr/>
        </p:nvSpPr>
        <p:spPr>
          <a:xfrm>
            <a:off x="2324100" y="546735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All variables were complete and numeric, supporting a clean exploratory modelling workflow.</a:t>
            </a:r>
          </a:p>
        </p:txBody>
      </p:sp>
    </p:spTree>
    <p:extLst>
      <p:ext uri="{BB962C8B-B14F-4D97-AF65-F5344CB8AC3E}">
        <p14:creationId xmlns:p14="http://schemas.microsoft.com/office/powerpoint/2010/main" val="108511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764510-248D-4B2E-A286-D3F31D6F7E76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FF4EAA-97EA-4D33-821D-B35F2A5A213F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Descriptive statistics and distributions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20595-17C5-4888-9BB6-942EE3591AED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D755D-F68E-4C62-A29D-81EA4E39CEB6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257300"/>
            <a:ext cx="680085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698623-B91C-42F3-80A7-53A2CFBCADD1}"/>
              </a:ext>
            </a:extLst>
          </p:cNvPr>
          <p:cNvSpPr>
            <a:spLocks noGrp="1"/>
          </p:cNvSpPr>
          <p:nvPr/>
        </p:nvSpPr>
        <p:spPr>
          <a:xfrm>
            <a:off x="7810500" y="1390650"/>
            <a:ext cx="342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2F4A20-38AD-4D89-A861-8E6E3D99EB04}"/>
              </a:ext>
            </a:extLst>
          </p:cNvPr>
          <p:cNvSpPr>
            <a:spLocks noGrp="1"/>
          </p:cNvSpPr>
          <p:nvPr/>
        </p:nvSpPr>
        <p:spPr>
          <a:xfrm>
            <a:off x="7810500" y="1390650"/>
            <a:ext cx="95250" cy="85725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B25549-A590-4D5C-B921-40E678FE0DEE}"/>
              </a:ext>
            </a:extLst>
          </p:cNvPr>
          <p:cNvSpPr>
            <a:spLocks noGrp="1"/>
          </p:cNvSpPr>
          <p:nvPr/>
        </p:nvSpPr>
        <p:spPr>
          <a:xfrm>
            <a:off x="8039100" y="1562100"/>
            <a:ext cx="3028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Screen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F63CA-9787-49E8-B528-CFE93909544F}"/>
              </a:ext>
            </a:extLst>
          </p:cNvPr>
          <p:cNvSpPr>
            <a:spLocks noGrp="1"/>
          </p:cNvSpPr>
          <p:nvPr/>
        </p:nvSpPr>
        <p:spPr>
          <a:xfrm>
            <a:off x="8039100" y="1962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360.44 min average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36F52C-3344-42C5-A65B-2A168CCFE898}"/>
              </a:ext>
            </a:extLst>
          </p:cNvPr>
          <p:cNvSpPr>
            <a:spLocks noGrp="1"/>
          </p:cNvSpPr>
          <p:nvPr/>
        </p:nvSpPr>
        <p:spPr>
          <a:xfrm>
            <a:off x="7810500" y="2400300"/>
            <a:ext cx="342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BFD89B-81F8-4D13-910F-68BBD1AD1935}"/>
              </a:ext>
            </a:extLst>
          </p:cNvPr>
          <p:cNvSpPr>
            <a:spLocks noGrp="1"/>
          </p:cNvSpPr>
          <p:nvPr/>
        </p:nvSpPr>
        <p:spPr>
          <a:xfrm>
            <a:off x="7810500" y="2400300"/>
            <a:ext cx="95250" cy="857250"/>
          </a:xfrm>
          <a:prstGeom prst="roundRect">
            <a:avLst>
              <a:gd name="adj" fmla="val 50000"/>
            </a:avLst>
          </a:prstGeom>
          <a:solidFill>
            <a:srgbClr val="32B768"/>
          </a:solidFill>
          <a:ln w="0">
            <a:solidFill>
              <a:srgbClr val="32B7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B0EE8E-B862-4099-B758-220563CBB4F8}"/>
              </a:ext>
            </a:extLst>
          </p:cNvPr>
          <p:cNvSpPr>
            <a:spLocks noGrp="1"/>
          </p:cNvSpPr>
          <p:nvPr/>
        </p:nvSpPr>
        <p:spPr>
          <a:xfrm>
            <a:off x="8039100" y="2571750"/>
            <a:ext cx="3028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Sleep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BF8428-5A51-45AF-8763-8187131D74DE}"/>
              </a:ext>
            </a:extLst>
          </p:cNvPr>
          <p:cNvSpPr>
            <a:spLocks noGrp="1"/>
          </p:cNvSpPr>
          <p:nvPr/>
        </p:nvSpPr>
        <p:spPr>
          <a:xfrm>
            <a:off x="8039100" y="29718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6.56 hours average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F22F04-3666-479F-8963-5CAD06D9C07B}"/>
              </a:ext>
            </a:extLst>
          </p:cNvPr>
          <p:cNvSpPr>
            <a:spLocks noGrp="1"/>
          </p:cNvSpPr>
          <p:nvPr/>
        </p:nvSpPr>
        <p:spPr>
          <a:xfrm>
            <a:off x="7810500" y="3409950"/>
            <a:ext cx="342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283C408-4D9D-46C5-91AC-685A8A6A7DAD}"/>
              </a:ext>
            </a:extLst>
          </p:cNvPr>
          <p:cNvSpPr>
            <a:spLocks noGrp="1"/>
          </p:cNvSpPr>
          <p:nvPr/>
        </p:nvSpPr>
        <p:spPr>
          <a:xfrm>
            <a:off x="7810500" y="3409950"/>
            <a:ext cx="95250" cy="857250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 w="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531C03-FF2F-4C2C-A4D1-E89A0B24CD9C}"/>
              </a:ext>
            </a:extLst>
          </p:cNvPr>
          <p:cNvSpPr>
            <a:spLocks noGrp="1"/>
          </p:cNvSpPr>
          <p:nvPr/>
        </p:nvSpPr>
        <p:spPr>
          <a:xfrm>
            <a:off x="8039100" y="3581400"/>
            <a:ext cx="3028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Anxiety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D7D128-DEBB-4547-98B6-38686DB7FF0A}"/>
              </a:ext>
            </a:extLst>
          </p:cNvPr>
          <p:cNvSpPr>
            <a:spLocks noGrp="1"/>
          </p:cNvSpPr>
          <p:nvPr/>
        </p:nvSpPr>
        <p:spPr>
          <a:xfrm>
            <a:off x="8039100" y="39814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8.45 average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F1177B-EE59-4E29-B12B-77414D8A2620}"/>
              </a:ext>
            </a:extLst>
          </p:cNvPr>
          <p:cNvSpPr>
            <a:spLocks noGrp="1"/>
          </p:cNvSpPr>
          <p:nvPr/>
        </p:nvSpPr>
        <p:spPr>
          <a:xfrm>
            <a:off x="7810500" y="4419600"/>
            <a:ext cx="342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E25964-AC12-461B-9564-0F1548B30CC6}"/>
              </a:ext>
            </a:extLst>
          </p:cNvPr>
          <p:cNvSpPr>
            <a:spLocks noGrp="1"/>
          </p:cNvSpPr>
          <p:nvPr/>
        </p:nvSpPr>
        <p:spPr>
          <a:xfrm>
            <a:off x="7810500" y="4419600"/>
            <a:ext cx="95250" cy="857250"/>
          </a:xfrm>
          <a:prstGeom prst="roundRect">
            <a:avLst>
              <a:gd name="adj" fmla="val 50000"/>
            </a:avLst>
          </a:prstGeom>
          <a:solidFill>
            <a:srgbClr val="E8B347"/>
          </a:solidFill>
          <a:ln w="0">
            <a:solidFill>
              <a:srgbClr val="E8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F0C1F-E627-4C92-BB41-493E8F0AB2D2}"/>
              </a:ext>
            </a:extLst>
          </p:cNvPr>
          <p:cNvSpPr>
            <a:spLocks noGrp="1"/>
          </p:cNvSpPr>
          <p:nvPr/>
        </p:nvSpPr>
        <p:spPr>
          <a:xfrm>
            <a:off x="8039100" y="4591050"/>
            <a:ext cx="3028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Wellbeing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DB846F-F45A-49EB-BF9C-F1DFD6847C72}"/>
              </a:ext>
            </a:extLst>
          </p:cNvPr>
          <p:cNvSpPr>
            <a:spLocks noGrp="1"/>
          </p:cNvSpPr>
          <p:nvPr/>
        </p:nvSpPr>
        <p:spPr>
          <a:xfrm>
            <a:off x="8039100" y="49911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52.31 average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D9697D-44EF-4FE3-8206-09A65A5622FA}"/>
              </a:ext>
            </a:extLst>
          </p:cNvPr>
          <p:cNvSpPr>
            <a:spLocks noGrp="1"/>
          </p:cNvSpPr>
          <p:nvPr/>
        </p:nvSpPr>
        <p:spPr>
          <a:xfrm>
            <a:off x="7810500" y="55435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Anxiety values are concentrated toward the upper end of the scale.</a:t>
            </a:r>
          </a:p>
        </p:txBody>
      </p:sp>
    </p:spTree>
    <p:extLst>
      <p:ext uri="{BB962C8B-B14F-4D97-AF65-F5344CB8AC3E}">
        <p14:creationId xmlns:p14="http://schemas.microsoft.com/office/powerpoint/2010/main" val="94146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90B700-6E5A-4EF0-AD1B-B3423B41EED6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091142-EBA0-4DC6-937F-25F7BDC2EF56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Correlation analysis: what relates to wellbeing?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30433B-6D7D-4FE1-85CC-A131B0DE5D0E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3F635-D352-4AB0-B066-5F207D48457E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495425"/>
            <a:ext cx="5143500" cy="4286250"/>
          </a:xfrm>
          <a:prstGeom prst="roundRect">
            <a:avLst>
              <a:gd name="adj" fmla="val 240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D3736E-22D2-4BEB-99B3-A3FF77D02AB6}"/>
              </a:ext>
            </a:extLst>
          </p:cNvPr>
          <p:cNvSpPr>
            <a:spLocks noGrp="1"/>
          </p:cNvSpPr>
          <p:nvPr/>
        </p:nvSpPr>
        <p:spPr>
          <a:xfrm>
            <a:off x="6238875" y="13525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Strongest associations with digital wellbeing</a:t>
            </a:r>
          </a:p>
        </p:txBody>
      </p:sp>
      <p:graphicFrame>
        <p:nvGraphicFramePr>
          <p:cNvPr id="19" name="Table 18"/>
          <p:cNvGraphicFramePr/>
          <p:nvPr/>
        </p:nvGraphicFramePr>
        <p:xfrm>
          <a:off x="6238875" y="1809750"/>
          <a:ext cx="4572000" cy="2571750"/>
        </p:xfrm>
        <a:graphic>
          <a:graphicData uri="http://schemas.openxmlformats.org/drawingml/2006/table">
            <a:tbl>
              <a:tblPr firstRow="1" bandRow="1"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Variable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Anxiety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-0.836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Sleep hours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0.440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Focus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0.411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Notification count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-0.380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Social-media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-0.263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EEBE6D-2572-4092-AACA-885D4BEEABAE}"/>
              </a:ext>
            </a:extLst>
          </p:cNvPr>
          <p:cNvSpPr>
            <a:spLocks noGrp="1"/>
          </p:cNvSpPr>
          <p:nvPr/>
        </p:nvSpPr>
        <p:spPr>
          <a:xfrm>
            <a:off x="6238875" y="4686300"/>
            <a:ext cx="45720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A6B838-63A8-4BDC-A955-CFC770760EB9}"/>
              </a:ext>
            </a:extLst>
          </p:cNvPr>
          <p:cNvSpPr>
            <a:spLocks noGrp="1"/>
          </p:cNvSpPr>
          <p:nvPr/>
        </p:nvSpPr>
        <p:spPr>
          <a:xfrm>
            <a:off x="6238875" y="4686300"/>
            <a:ext cx="95250" cy="914400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 w="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0F12AC-EFFB-407E-8E97-A9774A366D29}"/>
              </a:ext>
            </a:extLst>
          </p:cNvPr>
          <p:cNvSpPr>
            <a:spLocks noGrp="1"/>
          </p:cNvSpPr>
          <p:nvPr/>
        </p:nvSpPr>
        <p:spPr>
          <a:xfrm>
            <a:off x="6467475" y="4857750"/>
            <a:ext cx="417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4DF2D1-7970-4EBB-8328-7C765849C2AB}"/>
              </a:ext>
            </a:extLst>
          </p:cNvPr>
          <p:cNvSpPr>
            <a:spLocks noGrp="1"/>
          </p:cNvSpPr>
          <p:nvPr/>
        </p:nvSpPr>
        <p:spPr>
          <a:xfrm>
            <a:off x="6467475" y="52578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Anxiety is by far the strongest negative correlate of digital wellbeing.</a:t>
            </a:r>
          </a:p>
        </p:txBody>
      </p:sp>
    </p:spTree>
    <p:extLst>
      <p:ext uri="{BB962C8B-B14F-4D97-AF65-F5344CB8AC3E}">
        <p14:creationId xmlns:p14="http://schemas.microsoft.com/office/powerpoint/2010/main" val="1040462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6F6B90-EC40-45DF-B4D7-BC516321C44A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726C70-3C7C-4FD9-9F1D-3056A50DB42D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Key behaviour-wellbeing relationships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6C50BC-A76F-42FA-9249-AFA3A98E1325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63062-4FA6-4786-8EA2-2CC71FD22A84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263253"/>
            <a:ext cx="5191125" cy="3893344"/>
          </a:xfrm>
          <a:prstGeom prst="roundRect">
            <a:avLst>
              <a:gd name="adj" fmla="val 2927"/>
            </a:avLst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29375" y="1263253"/>
            <a:ext cx="5191125" cy="3893344"/>
          </a:xfrm>
          <a:prstGeom prst="roundRect">
            <a:avLst>
              <a:gd name="adj" fmla="val 2927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96E712-7166-44D9-9DE9-68F9AF5CC73F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48577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5305D1-66DC-495C-9B64-624EF1012A8C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95250" cy="68580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0A51F7-4858-43DE-B8D8-474E06BA2AC4}"/>
              </a:ext>
            </a:extLst>
          </p:cNvPr>
          <p:cNvSpPr>
            <a:spLocks noGrp="1"/>
          </p:cNvSpPr>
          <p:nvPr/>
        </p:nvSpPr>
        <p:spPr>
          <a:xfrm>
            <a:off x="895350" y="5600700"/>
            <a:ext cx="445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Screen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23EE71-F0E8-44FA-8D00-8CF8330CDA81}"/>
              </a:ext>
            </a:extLst>
          </p:cNvPr>
          <p:cNvSpPr>
            <a:spLocks noGrp="1"/>
          </p:cNvSpPr>
          <p:nvPr/>
        </p:nvSpPr>
        <p:spPr>
          <a:xfrm>
            <a:off x="895350" y="6000750"/>
            <a:ext cx="447675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Weak negative relationship with wellbeing.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F79727-5C51-4BBE-8403-E3BE6A908004}"/>
              </a:ext>
            </a:extLst>
          </p:cNvPr>
          <p:cNvSpPr>
            <a:spLocks noGrp="1"/>
          </p:cNvSpPr>
          <p:nvPr/>
        </p:nvSpPr>
        <p:spPr>
          <a:xfrm>
            <a:off x="6667500" y="5429250"/>
            <a:ext cx="48577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8AE17D-C433-450D-8320-76B9B8802480}"/>
              </a:ext>
            </a:extLst>
          </p:cNvPr>
          <p:cNvSpPr>
            <a:spLocks noGrp="1"/>
          </p:cNvSpPr>
          <p:nvPr/>
        </p:nvSpPr>
        <p:spPr>
          <a:xfrm>
            <a:off x="6667500" y="5429250"/>
            <a:ext cx="95250" cy="685800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 w="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39B1DC-69AC-4CC2-AF03-231A4C1EA977}"/>
              </a:ext>
            </a:extLst>
          </p:cNvPr>
          <p:cNvSpPr>
            <a:spLocks noGrp="1"/>
          </p:cNvSpPr>
          <p:nvPr/>
        </p:nvSpPr>
        <p:spPr>
          <a:xfrm>
            <a:off x="6896100" y="5600700"/>
            <a:ext cx="445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Social media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51872-AD31-4F05-A36E-CD8044FD572D}"/>
              </a:ext>
            </a:extLst>
          </p:cNvPr>
          <p:cNvSpPr>
            <a:spLocks noGrp="1"/>
          </p:cNvSpPr>
          <p:nvPr/>
        </p:nvSpPr>
        <p:spPr>
          <a:xfrm>
            <a:off x="6896100" y="6000750"/>
            <a:ext cx="447675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Positive relationship with anxiety.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0E5300-C390-4A81-91ED-9231E6CC58BE}"/>
              </a:ext>
            </a:extLst>
          </p:cNvPr>
          <p:cNvSpPr>
            <a:spLocks noGrp="1"/>
          </p:cNvSpPr>
          <p:nvPr/>
        </p:nvSpPr>
        <p:spPr>
          <a:xfrm>
            <a:off x="571500" y="62865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0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Interpret as descriptive associations; the analysis does not establish causation.</a:t>
            </a:r>
          </a:p>
        </p:txBody>
      </p:sp>
    </p:spTree>
    <p:extLst>
      <p:ext uri="{BB962C8B-B14F-4D97-AF65-F5344CB8AC3E}">
        <p14:creationId xmlns:p14="http://schemas.microsoft.com/office/powerpoint/2010/main" val="339565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AEAEA0-65A4-43DD-8050-0197DB34118C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A48712-B0C2-4AB0-9B13-5BF2ADCC4FD5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Sleep and digital wellbeing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121AB8-486C-4A92-BC36-EFFF309837F2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783A2-2B14-4600-A3B1-3DBF2A7F68DF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4525" y="1257300"/>
            <a:ext cx="6350000" cy="4762500"/>
          </a:xfrm>
          <a:prstGeom prst="roundRect">
            <a:avLst>
              <a:gd name="adj" fmla="val 2400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43C2E9-0DEC-40FC-9DA1-974251CD6937}"/>
              </a:ext>
            </a:extLst>
          </p:cNvPr>
          <p:cNvSpPr>
            <a:spLocks noGrp="1"/>
          </p:cNvSpPr>
          <p:nvPr/>
        </p:nvSpPr>
        <p:spPr>
          <a:xfrm>
            <a:off x="7524750" y="1666875"/>
            <a:ext cx="3476625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7D1AD0-EB02-4F45-B80C-6744062D2F85}"/>
              </a:ext>
            </a:extLst>
          </p:cNvPr>
          <p:cNvSpPr>
            <a:spLocks noGrp="1"/>
          </p:cNvSpPr>
          <p:nvPr/>
        </p:nvSpPr>
        <p:spPr>
          <a:xfrm>
            <a:off x="7524750" y="1666875"/>
            <a:ext cx="95250" cy="1095375"/>
          </a:xfrm>
          <a:prstGeom prst="roundRect">
            <a:avLst>
              <a:gd name="adj" fmla="val 50000"/>
            </a:avLst>
          </a:prstGeom>
          <a:solidFill>
            <a:srgbClr val="32B768"/>
          </a:solidFill>
          <a:ln w="0">
            <a:solidFill>
              <a:srgbClr val="32B7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3BA161-EB73-47C0-8A76-4D3935F2900E}"/>
              </a:ext>
            </a:extLst>
          </p:cNvPr>
          <p:cNvSpPr>
            <a:spLocks noGrp="1"/>
          </p:cNvSpPr>
          <p:nvPr/>
        </p:nvSpPr>
        <p:spPr>
          <a:xfrm>
            <a:off x="7753350" y="1838325"/>
            <a:ext cx="3076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3B888-7188-4052-9205-32EA1144C574}"/>
              </a:ext>
            </a:extLst>
          </p:cNvPr>
          <p:cNvSpPr>
            <a:spLocks noGrp="1"/>
          </p:cNvSpPr>
          <p:nvPr/>
        </p:nvSpPr>
        <p:spPr>
          <a:xfrm>
            <a:off x="7753350" y="2238375"/>
            <a:ext cx="3095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Median wellbeing rises across higher sleep categories.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03746F-CD05-4563-B20A-084918BF254F}"/>
              </a:ext>
            </a:extLst>
          </p:cNvPr>
          <p:cNvSpPr>
            <a:spLocks noGrp="1"/>
          </p:cNvSpPr>
          <p:nvPr/>
        </p:nvSpPr>
        <p:spPr>
          <a:xfrm>
            <a:off x="7524750" y="3028950"/>
            <a:ext cx="3476625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288620-F554-4552-B65C-6FB62D3321B8}"/>
              </a:ext>
            </a:extLst>
          </p:cNvPr>
          <p:cNvSpPr>
            <a:spLocks noGrp="1"/>
          </p:cNvSpPr>
          <p:nvPr/>
        </p:nvSpPr>
        <p:spPr>
          <a:xfrm>
            <a:off x="7524750" y="3028950"/>
            <a:ext cx="95250" cy="1095375"/>
          </a:xfrm>
          <a:prstGeom prst="roundRect">
            <a:avLst>
              <a:gd name="adj" fmla="val 50000"/>
            </a:avLst>
          </a:prstGeom>
          <a:solidFill>
            <a:srgbClr val="13B5A6"/>
          </a:solidFill>
          <a:ln w="0">
            <a:solidFill>
              <a:srgbClr val="13B5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7C198E-A2AF-48E1-A80C-5D90AB59AC47}"/>
              </a:ext>
            </a:extLst>
          </p:cNvPr>
          <p:cNvSpPr>
            <a:spLocks noGrp="1"/>
          </p:cNvSpPr>
          <p:nvPr/>
        </p:nvSpPr>
        <p:spPr>
          <a:xfrm>
            <a:off x="7753350" y="3200400"/>
            <a:ext cx="3076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427B77-BA3E-4B8B-9831-96CE06152005}"/>
              </a:ext>
            </a:extLst>
          </p:cNvPr>
          <p:cNvSpPr>
            <a:spLocks noGrp="1"/>
          </p:cNvSpPr>
          <p:nvPr/>
        </p:nvSpPr>
        <p:spPr>
          <a:xfrm>
            <a:off x="7753350" y="3600450"/>
            <a:ext cx="3095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Sleep hours have a moderate positive correlation with wellbeing: r = 0.440.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E7781A-1E2E-4C03-A77E-B822DCCBEB6F}"/>
              </a:ext>
            </a:extLst>
          </p:cNvPr>
          <p:cNvSpPr>
            <a:spLocks noGrp="1"/>
          </p:cNvSpPr>
          <p:nvPr/>
        </p:nvSpPr>
        <p:spPr>
          <a:xfrm>
            <a:off x="7524750" y="4400550"/>
            <a:ext cx="3476625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4C5660-7A5A-43E3-888A-EEAC4750FDF3}"/>
              </a:ext>
            </a:extLst>
          </p:cNvPr>
          <p:cNvSpPr>
            <a:spLocks noGrp="1"/>
          </p:cNvSpPr>
          <p:nvPr/>
        </p:nvSpPr>
        <p:spPr>
          <a:xfrm>
            <a:off x="7524750" y="4400550"/>
            <a:ext cx="95250" cy="1095375"/>
          </a:xfrm>
          <a:prstGeom prst="roundRect">
            <a:avLst>
              <a:gd name="adj" fmla="val 50000"/>
            </a:avLst>
          </a:prstGeom>
          <a:solidFill>
            <a:srgbClr val="E8B347"/>
          </a:solidFill>
          <a:ln w="0">
            <a:solidFill>
              <a:srgbClr val="E8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DDBA84-45B6-4BF3-9432-E419D73580F9}"/>
              </a:ext>
            </a:extLst>
          </p:cNvPr>
          <p:cNvSpPr>
            <a:spLocks noGrp="1"/>
          </p:cNvSpPr>
          <p:nvPr/>
        </p:nvSpPr>
        <p:spPr>
          <a:xfrm>
            <a:off x="7753350" y="4572000"/>
            <a:ext cx="3076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C58770-9ED2-4CA9-9FEC-86FD919E14EB}"/>
              </a:ext>
            </a:extLst>
          </p:cNvPr>
          <p:cNvSpPr>
            <a:spLocks noGrp="1"/>
          </p:cNvSpPr>
          <p:nvPr/>
        </p:nvSpPr>
        <p:spPr>
          <a:xfrm>
            <a:off x="7753350" y="4972050"/>
            <a:ext cx="3095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Sleep is one of the strongest positive wellbeing-related variables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104005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45E4431-67F5-4B94-BDE4-CFFFC8E18C90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A6555F-5E5A-4B74-9962-1B812E638840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Feature engineering and scaling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33916-468F-467D-84F0-CCC8B4DDB9E0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C8DB9-1544-4594-9091-BC0FAB29F299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0C0D1-19F7-4307-8B96-C51852936C22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Derived behavioural indicators make usage patterns easier to compare.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50E647-F1E1-48E7-9660-78E2CC5B1C11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6477000" cy="2143125"/>
          </a:xfrm>
          <a:prstGeom prst="roundRect">
            <a:avLst>
              <a:gd name="adj" fmla="val 3556"/>
            </a:avLst>
          </a:prstGeom>
          <a:solidFill>
            <a:srgbClr val="0D1B2A"/>
          </a:solidFill>
          <a:ln w="9525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577D91-8C7B-41A7-87C9-BA177F0F2498}"/>
              </a:ext>
            </a:extLst>
          </p:cNvPr>
          <p:cNvSpPr>
            <a:spLocks noGrp="1"/>
          </p:cNvSpPr>
          <p:nvPr/>
        </p:nvSpPr>
        <p:spPr>
          <a:xfrm>
            <a:off x="781050" y="1943100"/>
            <a:ext cx="6057900" cy="1876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E6F1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6F1FF"/>
                </a:solidFill>
                <a:latin typeface="Aptos"/>
                <a:ea typeface="Aptos"/>
                <a:cs typeface="Aptos"/>
              </a:rPr>
              <a:t>df &lt;- df %&gt;%</a:t>
            </a:r>
          </a:p>
          <a:p>
            <a:pPr>
              <a:defRPr sz="1200" b="0" i="0">
                <a:solidFill>
                  <a:srgbClr val="E6F1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6F1FF"/>
                </a:solidFill>
                <a:latin typeface="Aptos"/>
                <a:ea typeface="Aptos"/>
                <a:cs typeface="Aptos"/>
              </a:rPr>
              <a:t>  mutate(</a:t>
            </a:r>
          </a:p>
          <a:p>
            <a:pPr>
              <a:defRPr sz="1200" b="0" i="0">
                <a:solidFill>
                  <a:srgbClr val="E6F1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6F1FF"/>
                </a:solidFill>
                <a:latin typeface="Aptos"/>
                <a:ea typeface="Aptos"/>
                <a:cs typeface="Aptos"/>
              </a:rPr>
              <a:t>    social_media_share = social_media_time_min / daily_screen_time_min,</a:t>
            </a:r>
          </a:p>
          <a:p>
            <a:pPr>
              <a:defRPr sz="1200" b="0" i="0">
                <a:solidFill>
                  <a:srgbClr val="E6F1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6F1FF"/>
                </a:solidFill>
                <a:latin typeface="Aptos"/>
                <a:ea typeface="Aptos"/>
                <a:cs typeface="Aptos"/>
              </a:rPr>
              <a:t>    screen_sleep_ratio = daily_screen_time_min / sleep_hours</a:t>
            </a:r>
          </a:p>
          <a:p>
            <a:pPr>
              <a:defRPr sz="1200" b="0" i="0">
                <a:solidFill>
                  <a:srgbClr val="E6F1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6F1FF"/>
                </a:solidFill>
                <a:latin typeface="Aptos"/>
                <a:ea typeface="Aptos"/>
                <a:cs typeface="Aptos"/>
              </a:rPr>
              <a:t> 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A96BC2-4CFC-4027-B64E-8FBC9438F934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333375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924D12-1279-429A-B706-205CDFAAA26A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95250" cy="809625"/>
          </a:xfrm>
          <a:prstGeom prst="roundRect">
            <a:avLst>
              <a:gd name="adj" fmla="val 50000"/>
            </a:avLst>
          </a:prstGeom>
          <a:solidFill>
            <a:srgbClr val="008C95"/>
          </a:solidFill>
          <a:ln w="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F87FA1-31A9-43AA-8FD9-FB3C19EDD88C}"/>
              </a:ext>
            </a:extLst>
          </p:cNvPr>
          <p:cNvSpPr>
            <a:spLocks noGrp="1"/>
          </p:cNvSpPr>
          <p:nvPr/>
        </p:nvSpPr>
        <p:spPr>
          <a:xfrm>
            <a:off x="7848600" y="198120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Social-media share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7D78C-F1F1-4C2E-AE4E-745C2B908E84}"/>
              </a:ext>
            </a:extLst>
          </p:cNvPr>
          <p:cNvSpPr>
            <a:spLocks noGrp="1"/>
          </p:cNvSpPr>
          <p:nvPr/>
        </p:nvSpPr>
        <p:spPr>
          <a:xfrm>
            <a:off x="7848600" y="2381250"/>
            <a:ext cx="2952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Average: 0.347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999909-B690-45F9-AC24-CE31B1E6BD62}"/>
              </a:ext>
            </a:extLst>
          </p:cNvPr>
          <p:cNvSpPr>
            <a:spLocks noGrp="1"/>
          </p:cNvSpPr>
          <p:nvPr/>
        </p:nvSpPr>
        <p:spPr>
          <a:xfrm>
            <a:off x="7620000" y="2762250"/>
            <a:ext cx="333375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9F0D0E-9106-444B-AA8A-F8D375FB21C1}"/>
              </a:ext>
            </a:extLst>
          </p:cNvPr>
          <p:cNvSpPr>
            <a:spLocks noGrp="1"/>
          </p:cNvSpPr>
          <p:nvPr/>
        </p:nvSpPr>
        <p:spPr>
          <a:xfrm>
            <a:off x="7620000" y="2762250"/>
            <a:ext cx="95250" cy="809625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97F217-B8A4-4897-A7AA-15158F950E53}"/>
              </a:ext>
            </a:extLst>
          </p:cNvPr>
          <p:cNvSpPr>
            <a:spLocks noGrp="1"/>
          </p:cNvSpPr>
          <p:nvPr/>
        </p:nvSpPr>
        <p:spPr>
          <a:xfrm>
            <a:off x="7848600" y="293370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Screen-to-sleep ratio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410B7D-7B6A-4C68-89FB-79F46B03D92A}"/>
              </a:ext>
            </a:extLst>
          </p:cNvPr>
          <p:cNvSpPr>
            <a:spLocks noGrp="1"/>
          </p:cNvSpPr>
          <p:nvPr/>
        </p:nvSpPr>
        <p:spPr>
          <a:xfrm>
            <a:off x="7848600" y="3333750"/>
            <a:ext cx="2952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Average: 56.993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995951-EB56-4E4A-936B-F2CCAEF3AFEC}"/>
              </a:ext>
            </a:extLst>
          </p:cNvPr>
          <p:cNvSpPr>
            <a:spLocks noGrp="1"/>
          </p:cNvSpPr>
          <p:nvPr/>
        </p:nvSpPr>
        <p:spPr>
          <a:xfrm>
            <a:off x="7620000" y="3714750"/>
            <a:ext cx="3333750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86CA62-DA80-4790-8A79-FAAD61A67B72}"/>
              </a:ext>
            </a:extLst>
          </p:cNvPr>
          <p:cNvSpPr>
            <a:spLocks noGrp="1"/>
          </p:cNvSpPr>
          <p:nvPr/>
        </p:nvSpPr>
        <p:spPr>
          <a:xfrm>
            <a:off x="7620000" y="3714750"/>
            <a:ext cx="95250" cy="809625"/>
          </a:xfrm>
          <a:prstGeom prst="roundRect">
            <a:avLst>
              <a:gd name="adj" fmla="val 50000"/>
            </a:avLst>
          </a:prstGeom>
          <a:solidFill>
            <a:srgbClr val="E8B347"/>
          </a:solidFill>
          <a:ln w="0">
            <a:solidFill>
              <a:srgbClr val="E8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5F3585-B573-41D5-B775-EBED389E27FF}"/>
              </a:ext>
            </a:extLst>
          </p:cNvPr>
          <p:cNvSpPr>
            <a:spLocks noGrp="1"/>
          </p:cNvSpPr>
          <p:nvPr/>
        </p:nvSpPr>
        <p:spPr>
          <a:xfrm>
            <a:off x="7848600" y="388620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Notification intensity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C6CECF-427D-4311-82B0-B254156A43CC}"/>
              </a:ext>
            </a:extLst>
          </p:cNvPr>
          <p:cNvSpPr>
            <a:spLocks noGrp="1"/>
          </p:cNvSpPr>
          <p:nvPr/>
        </p:nvSpPr>
        <p:spPr>
          <a:xfrm>
            <a:off x="7848600" y="4286250"/>
            <a:ext cx="2952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Average: 13.634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B7B4874-62C1-4A01-BA09-DAEFA7088C2F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10382250" cy="781050"/>
          </a:xfrm>
          <a:prstGeom prst="roundRect">
            <a:avLst>
              <a:gd name="adj" fmla="val 14634"/>
            </a:avLst>
          </a:prstGeom>
          <a:solidFill>
            <a:srgbClr val="EAF8F7"/>
          </a:solidFill>
          <a:ln w="9525">
            <a:solidFill>
              <a:srgbClr val="BCE8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F3D58C-B320-4209-8D62-3B0EC296159E}"/>
              </a:ext>
            </a:extLst>
          </p:cNvPr>
          <p:cNvSpPr>
            <a:spLocks noGrp="1"/>
          </p:cNvSpPr>
          <p:nvPr/>
        </p:nvSpPr>
        <p:spPr>
          <a:xfrm>
            <a:off x="809625" y="49530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Standardisation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CC7D69-BCE6-4965-AECB-D28DFF9F3DEF}"/>
              </a:ext>
            </a:extLst>
          </p:cNvPr>
          <p:cNvSpPr>
            <a:spLocks noGrp="1"/>
          </p:cNvSpPr>
          <p:nvPr/>
        </p:nvSpPr>
        <p:spPr>
          <a:xfrm>
            <a:off x="2762250" y="49530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All clustering inputs were scaled to mean approximately 0 and standard deviation approximately 1.</a:t>
            </a:r>
          </a:p>
        </p:txBody>
      </p:sp>
    </p:spTree>
    <p:extLst>
      <p:ext uri="{BB962C8B-B14F-4D97-AF65-F5344CB8AC3E}">
        <p14:creationId xmlns:p14="http://schemas.microsoft.com/office/powerpoint/2010/main" val="137820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D6A63C-6077-47F1-8177-A4370A35A347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26AAB1-DAEF-48BA-951A-8C6447DAE022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Selecting the number of clusters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2F5F6-FDB3-4AC3-9E4E-5A865E099DCA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F17BCC-7F16-414D-B85E-34D5E7B4E377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376363"/>
            <a:ext cx="5143500" cy="3857625"/>
          </a:xfrm>
          <a:prstGeom prst="roundRect">
            <a:avLst>
              <a:gd name="adj" fmla="val 2791"/>
            </a:avLst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57950" y="1376363"/>
            <a:ext cx="5143500" cy="3857625"/>
          </a:xfrm>
          <a:prstGeom prst="roundRect">
            <a:avLst>
              <a:gd name="adj" fmla="val 2791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311BCA-597C-4FB3-ACA4-2087AF6D5321}"/>
              </a:ext>
            </a:extLst>
          </p:cNvPr>
          <p:cNvSpPr>
            <a:spLocks noGrp="1"/>
          </p:cNvSpPr>
          <p:nvPr/>
        </p:nvSpPr>
        <p:spPr>
          <a:xfrm>
            <a:off x="2305050" y="5600700"/>
            <a:ext cx="7334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1BDD0B-0037-4679-A9BB-73F8D84F23E8}"/>
              </a:ext>
            </a:extLst>
          </p:cNvPr>
          <p:cNvSpPr>
            <a:spLocks noGrp="1"/>
          </p:cNvSpPr>
          <p:nvPr/>
        </p:nvSpPr>
        <p:spPr>
          <a:xfrm>
            <a:off x="2305050" y="5600700"/>
            <a:ext cx="95250" cy="666750"/>
          </a:xfrm>
          <a:prstGeom prst="roundRect">
            <a:avLst>
              <a:gd name="adj" fmla="val 50000"/>
            </a:avLst>
          </a:prstGeom>
          <a:solidFill>
            <a:srgbClr val="13B5A6"/>
          </a:solidFill>
          <a:ln w="0">
            <a:solidFill>
              <a:srgbClr val="13B5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AD430D-B9C8-45E4-A3DF-9FE516D9F5CE}"/>
              </a:ext>
            </a:extLst>
          </p:cNvPr>
          <p:cNvSpPr>
            <a:spLocks noGrp="1"/>
          </p:cNvSpPr>
          <p:nvPr/>
        </p:nvSpPr>
        <p:spPr>
          <a:xfrm>
            <a:off x="2533650" y="5772150"/>
            <a:ext cx="6934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871C8C-DF1E-4797-A779-64F5FABA90EA}"/>
              </a:ext>
            </a:extLst>
          </p:cNvPr>
          <p:cNvSpPr>
            <a:spLocks noGrp="1"/>
          </p:cNvSpPr>
          <p:nvPr/>
        </p:nvSpPr>
        <p:spPr>
          <a:xfrm>
            <a:off x="2533650" y="6172200"/>
            <a:ext cx="695325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 = 3 produced the highest tested silhouette score: 0.1736.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60BAF8-0E0B-41AD-BE51-DFD0CD397E15}"/>
              </a:ext>
            </a:extLst>
          </p:cNvPr>
          <p:cNvSpPr>
            <a:spLocks noGrp="1"/>
          </p:cNvSpPr>
          <p:nvPr/>
        </p:nvSpPr>
        <p:spPr>
          <a:xfrm>
            <a:off x="857250" y="6362700"/>
            <a:ext cx="1047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0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Caution: the score is modest, so the clusters are exploratory segments rather than sharply separated natural groups.</a:t>
            </a:r>
          </a:p>
        </p:txBody>
      </p:sp>
    </p:spTree>
    <p:extLst>
      <p:ext uri="{BB962C8B-B14F-4D97-AF65-F5344CB8AC3E}">
        <p14:creationId xmlns:p14="http://schemas.microsoft.com/office/powerpoint/2010/main" val="42013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D2C1BC-F25F-4028-AF4A-81987F4EC8D3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F82BCE-DE88-43A7-B520-D69EA983BFED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Three digital behaviour archetypes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257F1-547F-432A-8201-2F0D8F71A2A8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EB10B9-3055-4901-9BA4-E2B500286C19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404938"/>
            <a:ext cx="6191250" cy="4333875"/>
          </a:xfrm>
          <a:prstGeom prst="roundRect">
            <a:avLst>
              <a:gd name="adj" fmla="val 2449"/>
            </a:avLst>
          </a:prstGeom>
        </p:spPr>
      </p:pic>
      <p:graphicFrame>
        <p:nvGraphicFramePr>
          <p:cNvPr id="15" name="Table 14"/>
          <p:cNvGraphicFramePr/>
          <p:nvPr/>
        </p:nvGraphicFramePr>
        <p:xfrm>
          <a:off x="7096125" y="1571625"/>
          <a:ext cx="4381500" cy="2190752"/>
        </p:xfrm>
        <a:graphic>
          <a:graphicData uri="http://schemas.openxmlformats.org/drawingml/2006/table">
            <a:tbl>
              <a:tblPr firstRow="1" bandRow="1"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Cluster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Profile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Wellbeing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Anxiety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Sleep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High social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9.42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7.06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Higher wellbeing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58.58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6.85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6.90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High screen, low 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46.10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9.27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5.65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CD8251B-537D-4D6B-BBEE-5B19D95AC2BA}"/>
              </a:ext>
            </a:extLst>
          </p:cNvPr>
          <p:cNvSpPr>
            <a:spLocks noGrp="1"/>
          </p:cNvSpPr>
          <p:nvPr/>
        </p:nvSpPr>
        <p:spPr>
          <a:xfrm>
            <a:off x="7096125" y="404812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Cluster sizes: 1 = 164 · 2 = 179 · 3 = 157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6E8692-CF7A-4471-85DF-4965E9676BCF}"/>
              </a:ext>
            </a:extLst>
          </p:cNvPr>
          <p:cNvSpPr>
            <a:spLocks noGrp="1"/>
          </p:cNvSpPr>
          <p:nvPr/>
        </p:nvSpPr>
        <p:spPr>
          <a:xfrm>
            <a:off x="7096125" y="4438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0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Times are minutes except sleep, measured in hours.</a:t>
            </a:r>
          </a:p>
        </p:txBody>
      </p:sp>
    </p:spTree>
    <p:extLst>
      <p:ext uri="{BB962C8B-B14F-4D97-AF65-F5344CB8AC3E}">
        <p14:creationId xmlns:p14="http://schemas.microsoft.com/office/powerpoint/2010/main" val="1217043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ED0702-9620-44B7-AA41-B8412199EB51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FEDD52-5B40-45C4-AAC4-5F0EBCB6862D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Interpreting the three archetypes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FEDC48-192C-4E4C-BD37-225FB54E86B2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04987B-3180-4EB3-9F59-9F073C6B2999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ABC46A-951D-475C-8197-E7D667BCD75A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3333750" cy="3190875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9D62E0-F5AB-4CE3-9780-ECC59BF22D25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95250" cy="3190875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 w="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32EB6-B838-4862-9F43-6C362C5FFFD2}"/>
              </a:ext>
            </a:extLst>
          </p:cNvPr>
          <p:cNvSpPr>
            <a:spLocks noGrp="1"/>
          </p:cNvSpPr>
          <p:nvPr/>
        </p:nvSpPr>
        <p:spPr>
          <a:xfrm>
            <a:off x="800100" y="1743075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Cluster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BA3E12-64B7-4A8C-B6DC-34DDEC8F69BC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29527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High social-media, high-anxiety users</a:t>
            </a:r>
          </a:p>
          <a:p>
            <a:endParaRPr sz="1200" b="0" i="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Social media: 155.84 min</a:t>
            </a: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Anxiety: 9.42</a:t>
            </a: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Wellbeing: 51.41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A94AA3-CAA8-49ED-A744-3BAA2D1FF7D5}"/>
              </a:ext>
            </a:extLst>
          </p:cNvPr>
          <p:cNvSpPr>
            <a:spLocks noGrp="1"/>
          </p:cNvSpPr>
          <p:nvPr/>
        </p:nvSpPr>
        <p:spPr>
          <a:xfrm>
            <a:off x="4429125" y="1571625"/>
            <a:ext cx="3333750" cy="3190875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D6D559-D87F-4E1A-8693-73698D88560A}"/>
              </a:ext>
            </a:extLst>
          </p:cNvPr>
          <p:cNvSpPr>
            <a:spLocks noGrp="1"/>
          </p:cNvSpPr>
          <p:nvPr/>
        </p:nvSpPr>
        <p:spPr>
          <a:xfrm>
            <a:off x="4429125" y="1571625"/>
            <a:ext cx="95250" cy="3190875"/>
          </a:xfrm>
          <a:prstGeom prst="roundRect">
            <a:avLst>
              <a:gd name="adj" fmla="val 50000"/>
            </a:avLst>
          </a:prstGeom>
          <a:solidFill>
            <a:srgbClr val="32B768"/>
          </a:solidFill>
          <a:ln w="0">
            <a:solidFill>
              <a:srgbClr val="32B7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E898F0-9CD7-4C1F-A964-CAB060EB0600}"/>
              </a:ext>
            </a:extLst>
          </p:cNvPr>
          <p:cNvSpPr>
            <a:spLocks noGrp="1"/>
          </p:cNvSpPr>
          <p:nvPr/>
        </p:nvSpPr>
        <p:spPr>
          <a:xfrm>
            <a:off x="4657725" y="1743075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Cluster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77AEE0-9085-41F7-A58C-A5DDF11F7C64}"/>
              </a:ext>
            </a:extLst>
          </p:cNvPr>
          <p:cNvSpPr>
            <a:spLocks noGrp="1"/>
          </p:cNvSpPr>
          <p:nvPr/>
        </p:nvSpPr>
        <p:spPr>
          <a:xfrm>
            <a:off x="4657725" y="2143125"/>
            <a:ext cx="29527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Lower social-media, higher-wellbeing users</a:t>
            </a:r>
          </a:p>
          <a:p>
            <a:endParaRPr sz="1200" b="0" i="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Social media: 87.25 min</a:t>
            </a: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Anxiety: 6.85</a:t>
            </a: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Wellbeing: 58.58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20CE38-7E34-433B-9A01-F635420FCF67}"/>
              </a:ext>
            </a:extLst>
          </p:cNvPr>
          <p:cNvSpPr>
            <a:spLocks noGrp="1"/>
          </p:cNvSpPr>
          <p:nvPr/>
        </p:nvSpPr>
        <p:spPr>
          <a:xfrm>
            <a:off x="8286750" y="1571625"/>
            <a:ext cx="3333750" cy="3190875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FD498B-DFA4-4482-B596-9868372BE1A2}"/>
              </a:ext>
            </a:extLst>
          </p:cNvPr>
          <p:cNvSpPr>
            <a:spLocks noGrp="1"/>
          </p:cNvSpPr>
          <p:nvPr/>
        </p:nvSpPr>
        <p:spPr>
          <a:xfrm>
            <a:off x="8286750" y="1571625"/>
            <a:ext cx="95250" cy="3190875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49991C-B84D-4DF1-A308-47E1A40C92EE}"/>
              </a:ext>
            </a:extLst>
          </p:cNvPr>
          <p:cNvSpPr>
            <a:spLocks noGrp="1"/>
          </p:cNvSpPr>
          <p:nvPr/>
        </p:nvSpPr>
        <p:spPr>
          <a:xfrm>
            <a:off x="8515350" y="1743075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Cluster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142F38-52D6-484A-AE08-E922CFD42786}"/>
              </a:ext>
            </a:extLst>
          </p:cNvPr>
          <p:cNvSpPr>
            <a:spLocks noGrp="1"/>
          </p:cNvSpPr>
          <p:nvPr/>
        </p:nvSpPr>
        <p:spPr>
          <a:xfrm>
            <a:off x="8515350" y="2143125"/>
            <a:ext cx="29527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High screen-time, low-sleep users</a:t>
            </a:r>
          </a:p>
          <a:p>
            <a:endParaRPr sz="1200" b="0" i="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Screen time: 398.81 min</a:t>
            </a: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Sleep: 5.65 hours</a:t>
            </a:r>
          </a:p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Wellbeing: 46.10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EDFCE6-998A-400B-AE62-49747DA9709C}"/>
              </a:ext>
            </a:extLst>
          </p:cNvPr>
          <p:cNvSpPr>
            <a:spLocks noGrp="1"/>
          </p:cNvSpPr>
          <p:nvPr/>
        </p:nvSpPr>
        <p:spPr>
          <a:xfrm>
            <a:off x="1238250" y="552450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Cluster names are descriptive labels for exploratory segments, not clinical diagnoses.</a:t>
            </a:r>
          </a:p>
        </p:txBody>
      </p:sp>
    </p:spTree>
    <p:extLst>
      <p:ext uri="{BB962C8B-B14F-4D97-AF65-F5344CB8AC3E}">
        <p14:creationId xmlns:p14="http://schemas.microsoft.com/office/powerpoint/2010/main" val="1152073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ADEFD0-D389-43EC-84BC-959E767FF6FB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5774F1-BB04-4F53-9F80-72EE5C7392F8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PCA visualisation of the archetypes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E42811-6806-412B-97C4-86C636C0F536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A179C5-19BF-4806-A2C8-479D91473563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7764" y="1219200"/>
            <a:ext cx="6803571" cy="4762500"/>
          </a:xfrm>
          <a:prstGeom prst="roundRect">
            <a:avLst>
              <a:gd name="adj" fmla="val 2400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003456-FB8B-42E9-884D-DF27F60996C1}"/>
              </a:ext>
            </a:extLst>
          </p:cNvPr>
          <p:cNvSpPr>
            <a:spLocks noGrp="1"/>
          </p:cNvSpPr>
          <p:nvPr/>
        </p:nvSpPr>
        <p:spPr>
          <a:xfrm>
            <a:off x="7858125" y="1409700"/>
            <a:ext cx="319087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36B320-2E4D-40DB-9642-4859F4B09FF0}"/>
              </a:ext>
            </a:extLst>
          </p:cNvPr>
          <p:cNvSpPr>
            <a:spLocks noGrp="1"/>
          </p:cNvSpPr>
          <p:nvPr/>
        </p:nvSpPr>
        <p:spPr>
          <a:xfrm>
            <a:off x="7858125" y="1409700"/>
            <a:ext cx="95250" cy="809625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25A7C7-FEE0-4073-B087-796A2774F6D7}"/>
              </a:ext>
            </a:extLst>
          </p:cNvPr>
          <p:cNvSpPr>
            <a:spLocks noGrp="1"/>
          </p:cNvSpPr>
          <p:nvPr/>
        </p:nvSpPr>
        <p:spPr>
          <a:xfrm>
            <a:off x="8086725" y="15811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PC1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44E353-53A3-4E2B-A423-60223E63F928}"/>
              </a:ext>
            </a:extLst>
          </p:cNvPr>
          <p:cNvSpPr>
            <a:spLocks noGrp="1"/>
          </p:cNvSpPr>
          <p:nvPr/>
        </p:nvSpPr>
        <p:spPr>
          <a:xfrm>
            <a:off x="8086725" y="1981200"/>
            <a:ext cx="2809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29.24% of variation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0D2D10-9A4B-48B9-91C1-8CFC75A9E991}"/>
              </a:ext>
            </a:extLst>
          </p:cNvPr>
          <p:cNvSpPr>
            <a:spLocks noGrp="1"/>
          </p:cNvSpPr>
          <p:nvPr/>
        </p:nvSpPr>
        <p:spPr>
          <a:xfrm>
            <a:off x="7858125" y="2362200"/>
            <a:ext cx="319087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C7840E-E5F1-4F30-8527-7AD51B2981D0}"/>
              </a:ext>
            </a:extLst>
          </p:cNvPr>
          <p:cNvSpPr>
            <a:spLocks noGrp="1"/>
          </p:cNvSpPr>
          <p:nvPr/>
        </p:nvSpPr>
        <p:spPr>
          <a:xfrm>
            <a:off x="7858125" y="2362200"/>
            <a:ext cx="95250" cy="809625"/>
          </a:xfrm>
          <a:prstGeom prst="roundRect">
            <a:avLst>
              <a:gd name="adj" fmla="val 50000"/>
            </a:avLst>
          </a:prstGeom>
          <a:solidFill>
            <a:srgbClr val="008C95"/>
          </a:solidFill>
          <a:ln w="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46056E-C2F8-4D56-A1BB-DDC1266B6E84}"/>
              </a:ext>
            </a:extLst>
          </p:cNvPr>
          <p:cNvSpPr>
            <a:spLocks noGrp="1"/>
          </p:cNvSpPr>
          <p:nvPr/>
        </p:nvSpPr>
        <p:spPr>
          <a:xfrm>
            <a:off x="8086725" y="25336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F5CB0-7162-4AFE-9612-9CC2E63E419A}"/>
              </a:ext>
            </a:extLst>
          </p:cNvPr>
          <p:cNvSpPr>
            <a:spLocks noGrp="1"/>
          </p:cNvSpPr>
          <p:nvPr/>
        </p:nvSpPr>
        <p:spPr>
          <a:xfrm>
            <a:off x="8086725" y="2933700"/>
            <a:ext cx="2809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23.73% of variation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4AF61B-7894-402C-827C-526C655C503C}"/>
              </a:ext>
            </a:extLst>
          </p:cNvPr>
          <p:cNvSpPr>
            <a:spLocks noGrp="1"/>
          </p:cNvSpPr>
          <p:nvPr/>
        </p:nvSpPr>
        <p:spPr>
          <a:xfrm>
            <a:off x="7858125" y="3314700"/>
            <a:ext cx="319087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5B89B8-CF06-421D-870D-28114447F03B}"/>
              </a:ext>
            </a:extLst>
          </p:cNvPr>
          <p:cNvSpPr>
            <a:spLocks noGrp="1"/>
          </p:cNvSpPr>
          <p:nvPr/>
        </p:nvSpPr>
        <p:spPr>
          <a:xfrm>
            <a:off x="7858125" y="3314700"/>
            <a:ext cx="95250" cy="809625"/>
          </a:xfrm>
          <a:prstGeom prst="roundRect">
            <a:avLst>
              <a:gd name="adj" fmla="val 50000"/>
            </a:avLst>
          </a:prstGeom>
          <a:solidFill>
            <a:srgbClr val="13B5A6"/>
          </a:solidFill>
          <a:ln w="0">
            <a:solidFill>
              <a:srgbClr val="13B5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09C326-3247-4DBE-B515-ED36887F255B}"/>
              </a:ext>
            </a:extLst>
          </p:cNvPr>
          <p:cNvSpPr>
            <a:spLocks noGrp="1"/>
          </p:cNvSpPr>
          <p:nvPr/>
        </p:nvSpPr>
        <p:spPr>
          <a:xfrm>
            <a:off x="8086725" y="34861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PC1 + PC2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2B4522-14DB-4BF2-8CE0-2517A2725845}"/>
              </a:ext>
            </a:extLst>
          </p:cNvPr>
          <p:cNvSpPr>
            <a:spLocks noGrp="1"/>
          </p:cNvSpPr>
          <p:nvPr/>
        </p:nvSpPr>
        <p:spPr>
          <a:xfrm>
            <a:off x="8086725" y="3886200"/>
            <a:ext cx="2809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52.97% together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3C693-39B2-42B6-920B-48CA7FA51236}"/>
              </a:ext>
            </a:extLst>
          </p:cNvPr>
          <p:cNvSpPr>
            <a:spLocks noGrp="1"/>
          </p:cNvSpPr>
          <p:nvPr/>
        </p:nvSpPr>
        <p:spPr>
          <a:xfrm>
            <a:off x="7858125" y="4572000"/>
            <a:ext cx="3190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two-dimensional view separates the broad profiles, while visible overlap aligns with the modest silhouette score.</a:t>
            </a:r>
          </a:p>
        </p:txBody>
      </p:sp>
    </p:spTree>
    <p:extLst>
      <p:ext uri="{BB962C8B-B14F-4D97-AF65-F5344CB8AC3E}">
        <p14:creationId xmlns:p14="http://schemas.microsoft.com/office/powerpoint/2010/main" val="722186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A00E06-B349-4390-8C45-92E2287CAC60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1906C-CC0A-46EC-90F7-E8B5FF31F82A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Classification models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D5E727-AF56-4751-A668-5492F358A131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43FA7-3D1C-4CF9-9B99-19A0319639F5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4DDC7-3E26-433F-ADFA-BB5D456CED2E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 stratified 80/20 split was used to predict K-Means cluster membership.</a:t>
            </a:r>
          </a:p>
        </p:txBody>
      </p:sp>
      <p:graphicFrame>
        <p:nvGraphicFramePr>
          <p:cNvPr id="19" name="Table 18"/>
          <p:cNvGraphicFramePr/>
          <p:nvPr/>
        </p:nvGraphicFramePr>
        <p:xfrm>
          <a:off x="571500" y="1809750"/>
          <a:ext cx="5143500" cy="1666875"/>
        </p:xfrm>
        <a:graphic>
          <a:graphicData uri="http://schemas.openxmlformats.org/drawingml/2006/table">
            <a:tbl>
              <a:tblPr firstRow="1" band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Kappa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F1 score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87.76%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0.8161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0.8794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Random Forest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93.88%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0.9081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0.9383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9EBFCE-6FBB-4EDD-9413-CB1F7429A219}"/>
              </a:ext>
            </a:extLst>
          </p:cNvPr>
          <p:cNvSpPr>
            <a:spLocks noGrp="1"/>
          </p:cNvSpPr>
          <p:nvPr/>
        </p:nvSpPr>
        <p:spPr>
          <a:xfrm>
            <a:off x="571500" y="3905250"/>
            <a:ext cx="5143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5D820A-1D78-4910-AE8A-1ADC14AFB632}"/>
              </a:ext>
            </a:extLst>
          </p:cNvPr>
          <p:cNvSpPr>
            <a:spLocks noGrp="1"/>
          </p:cNvSpPr>
          <p:nvPr/>
        </p:nvSpPr>
        <p:spPr>
          <a:xfrm>
            <a:off x="571500" y="3905250"/>
            <a:ext cx="95250" cy="952500"/>
          </a:xfrm>
          <a:prstGeom prst="roundRect">
            <a:avLst>
              <a:gd name="adj" fmla="val 50000"/>
            </a:avLst>
          </a:prstGeom>
          <a:solidFill>
            <a:srgbClr val="13B5A6"/>
          </a:solidFill>
          <a:ln w="0">
            <a:solidFill>
              <a:srgbClr val="13B5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214E8F-7960-4A96-837A-227BD5E7CF17}"/>
              </a:ext>
            </a:extLst>
          </p:cNvPr>
          <p:cNvSpPr>
            <a:spLocks noGrp="1"/>
          </p:cNvSpPr>
          <p:nvPr/>
        </p:nvSpPr>
        <p:spPr>
          <a:xfrm>
            <a:off x="800100" y="4076700"/>
            <a:ext cx="4743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4C289E-CE6A-4C76-AF4C-4B5904D61787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Random Forest achieved the strongest performance across all reported metrics.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81750" y="1619250"/>
            <a:ext cx="5143500" cy="3429000"/>
          </a:xfrm>
          <a:prstGeom prst="roundRect">
            <a:avLst>
              <a:gd name="adj" fmla="val 3243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D5DC045-302E-422F-AF38-FDE0F5245B7F}"/>
              </a:ext>
            </a:extLst>
          </p:cNvPr>
          <p:cNvSpPr>
            <a:spLocks noGrp="1"/>
          </p:cNvSpPr>
          <p:nvPr/>
        </p:nvSpPr>
        <p:spPr>
          <a:xfrm>
            <a:off x="6477000" y="52197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0" i="1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 i="1">
                <a:solidFill>
                  <a:srgbClr val="5B6B7A"/>
                </a:solidFill>
                <a:latin typeface="Aptos"/>
                <a:ea typeface="Aptos"/>
                <a:cs typeface="Aptos"/>
              </a:rPr>
              <a:t>Decision Tree rules used to predict cluster membership.</a:t>
            </a:r>
          </a:p>
        </p:txBody>
      </p:sp>
    </p:spTree>
    <p:extLst>
      <p:ext uri="{BB962C8B-B14F-4D97-AF65-F5344CB8AC3E}">
        <p14:creationId xmlns:p14="http://schemas.microsoft.com/office/powerpoint/2010/main" val="778184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47E9FA-8ED6-4F50-B6D3-ED2D4A3A558F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DIGITAL BEHAVIOUR ARCHETYPES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8C282D-F80A-4222-89AE-480283637E99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What most distinguishes the clusters?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98B2B9-DC76-4336-8DA4-B2DD95123B1B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D9E5EF"/>
          </a:solidFill>
          <a:ln w="0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B2795-D67D-416B-9139-DEAC0B58C5D0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B6B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3425" y="1257300"/>
            <a:ext cx="5905500" cy="4429125"/>
          </a:xfrm>
          <a:prstGeom prst="roundRect">
            <a:avLst>
              <a:gd name="adj" fmla="val 258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4D1A83-5E81-4142-ABE5-BBC6B6985834}"/>
              </a:ext>
            </a:extLst>
          </p:cNvPr>
          <p:cNvSpPr>
            <a:spLocks noGrp="1"/>
          </p:cNvSpPr>
          <p:nvPr/>
        </p:nvSpPr>
        <p:spPr>
          <a:xfrm>
            <a:off x="7239000" y="1428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Top predictors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56A83-D63F-43C4-9D05-8BBC5851810D}"/>
              </a:ext>
            </a:extLst>
          </p:cNvPr>
          <p:cNvSpPr>
            <a:spLocks noGrp="1"/>
          </p:cNvSpPr>
          <p:nvPr/>
        </p:nvSpPr>
        <p:spPr>
          <a:xfrm>
            <a:off x="7239000" y="1943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1. Screen-to-sleep ratio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8F83BA-7C56-48C8-AF43-646FBAC8249C}"/>
              </a:ext>
            </a:extLst>
          </p:cNvPr>
          <p:cNvSpPr>
            <a:spLocks noGrp="1"/>
          </p:cNvSpPr>
          <p:nvPr/>
        </p:nvSpPr>
        <p:spPr>
          <a:xfrm>
            <a:off x="7239000" y="24003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08C95"/>
                </a:solidFill>
                <a:latin typeface="Aptos"/>
                <a:ea typeface="Aptos"/>
                <a:cs typeface="Aptos"/>
              </a:rPr>
              <a:t>2. Social-media share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6A3C3A-8610-414B-BF31-E1E858121B04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Anxiety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83EAC-BE15-437E-85A5-28726578EE01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Social-media 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93A521-9F2B-45C1-B8D9-7EF8200E1DE7}"/>
              </a:ext>
            </a:extLst>
          </p:cNvPr>
          <p:cNvSpPr>
            <a:spLocks noGrp="1"/>
          </p:cNvSpPr>
          <p:nvPr/>
        </p:nvSpPr>
        <p:spPr>
          <a:xfrm>
            <a:off x="7239000" y="37719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5. Daily screen time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A88A0B-4D78-4FF3-A42F-55207E296334}"/>
              </a:ext>
            </a:extLst>
          </p:cNvPr>
          <p:cNvSpPr>
            <a:spLocks noGrp="1"/>
          </p:cNvSpPr>
          <p:nvPr/>
        </p:nvSpPr>
        <p:spPr>
          <a:xfrm>
            <a:off x="7143750" y="4476750"/>
            <a:ext cx="4000500" cy="857250"/>
          </a:xfrm>
          <a:prstGeom prst="roundRect">
            <a:avLst>
              <a:gd name="adj" fmla="val 13333"/>
            </a:avLst>
          </a:prstGeom>
          <a:solidFill>
            <a:srgbClr val="FFF7E6"/>
          </a:solidFill>
          <a:ln w="9525">
            <a:solidFill>
              <a:srgbClr val="F3D9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238293-D299-4FEE-84E9-9F3AA4387D30}"/>
              </a:ext>
            </a:extLst>
          </p:cNvPr>
          <p:cNvSpPr>
            <a:spLocks noGrp="1"/>
          </p:cNvSpPr>
          <p:nvPr/>
        </p:nvSpPr>
        <p:spPr>
          <a:xfrm>
            <a:off x="7334250" y="46101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 i="0">
                <a:solidFill>
                  <a:srgbClr val="8A5D0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A5D00"/>
                </a:solidFill>
                <a:latin typeface="Aptos"/>
                <a:ea typeface="Aptos"/>
                <a:cs typeface="Aptos"/>
              </a:rPr>
              <a:t>Method note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03CD4-AE02-452D-B0D4-27EDBED53FD6}"/>
              </a:ext>
            </a:extLst>
          </p:cNvPr>
          <p:cNvSpPr>
            <a:spLocks noGrp="1"/>
          </p:cNvSpPr>
          <p:nvPr/>
        </p:nvSpPr>
        <p:spPr>
          <a:xfrm>
            <a:off x="7334250" y="485775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High accuracy reflects internal cluster distinguishability, not independent real-world prediction.</a:t>
            </a:r>
          </a:p>
        </p:txBody>
      </p:sp>
    </p:spTree>
    <p:extLst>
      <p:ext uri="{BB962C8B-B14F-4D97-AF65-F5344CB8AC3E}">
        <p14:creationId xmlns:p14="http://schemas.microsoft.com/office/powerpoint/2010/main" val="1252064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BC3C3B9-7F80-40E2-9D3E-DE7963FC93F5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 i="0">
                <a:solidFill>
                  <a:srgbClr val="81E6D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1E6D9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C145CC-EB7A-4572-8112-7F990FCEE018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619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4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patterns,</a:t>
            </a:r>
          </a:p>
          <a:p>
            <a:pPr>
              <a:defRPr sz="34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clear message.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A0CB15-7E21-44B5-A4E7-D9A1974D074D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238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1C20B9-2E51-4523-B9AF-CB75EA92DC5B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95250" cy="1524000"/>
          </a:xfrm>
          <a:prstGeom prst="roundRect">
            <a:avLst>
              <a:gd name="adj" fmla="val 50000"/>
            </a:avLst>
          </a:prstGeom>
          <a:solidFill>
            <a:srgbClr val="32B768"/>
          </a:solidFill>
          <a:ln w="0">
            <a:solidFill>
              <a:srgbClr val="32B7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8EC591-E00A-4425-8E86-09415691454D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Wellbeing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322378-8AB6-4710-B166-695FC3C0243F}"/>
              </a:ext>
            </a:extLst>
          </p:cNvPr>
          <p:cNvSpPr>
            <a:spLocks noGrp="1"/>
          </p:cNvSpPr>
          <p:nvPr/>
        </p:nvSpPr>
        <p:spPr>
          <a:xfrm>
            <a:off x="914400" y="323850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Lower anxiety, adequate sleep, and reduced social-media intensity align with better wellbeing.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D6DB76-5483-42B5-98F4-DD3845572B7E}"/>
              </a:ext>
            </a:extLst>
          </p:cNvPr>
          <p:cNvSpPr>
            <a:spLocks noGrp="1"/>
          </p:cNvSpPr>
          <p:nvPr/>
        </p:nvSpPr>
        <p:spPr>
          <a:xfrm>
            <a:off x="4343400" y="2667000"/>
            <a:ext cx="3238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BDAE9E-E6BD-4CEB-80A7-34EFE557F1D4}"/>
              </a:ext>
            </a:extLst>
          </p:cNvPr>
          <p:cNvSpPr>
            <a:spLocks noGrp="1"/>
          </p:cNvSpPr>
          <p:nvPr/>
        </p:nvSpPr>
        <p:spPr>
          <a:xfrm>
            <a:off x="4343400" y="2667000"/>
            <a:ext cx="95250" cy="1524000"/>
          </a:xfrm>
          <a:prstGeom prst="roundRect">
            <a:avLst>
              <a:gd name="adj" fmla="val 50000"/>
            </a:avLst>
          </a:prstGeom>
          <a:solidFill>
            <a:srgbClr val="13B5A6"/>
          </a:solidFill>
          <a:ln w="0">
            <a:solidFill>
              <a:srgbClr val="13B5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2E4F6D-85FE-4739-B6D4-B28824B97877}"/>
              </a:ext>
            </a:extLst>
          </p:cNvPr>
          <p:cNvSpPr>
            <a:spLocks noGrp="1"/>
          </p:cNvSpPr>
          <p:nvPr/>
        </p:nvSpPr>
        <p:spPr>
          <a:xfrm>
            <a:off x="4572000" y="283845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Archetypes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BB685-2E1D-4361-BE3F-021435737A60}"/>
              </a:ext>
            </a:extLst>
          </p:cNvPr>
          <p:cNvSpPr>
            <a:spLocks noGrp="1"/>
          </p:cNvSpPr>
          <p:nvPr/>
        </p:nvSpPr>
        <p:spPr>
          <a:xfrm>
            <a:off x="4572000" y="323850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Three exploratory behavioural profiles capture distinct combinations of sleep, screen time, social media, and anxiety.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D73F6E-DD23-4AFB-96E4-E15153C85D14}"/>
              </a:ext>
            </a:extLst>
          </p:cNvPr>
          <p:cNvSpPr>
            <a:spLocks noGrp="1"/>
          </p:cNvSpPr>
          <p:nvPr/>
        </p:nvSpPr>
        <p:spPr>
          <a:xfrm>
            <a:off x="8001000" y="2667000"/>
            <a:ext cx="3238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5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CB318D-101A-40CC-8643-005E369CA402}"/>
              </a:ext>
            </a:extLst>
          </p:cNvPr>
          <p:cNvSpPr>
            <a:spLocks noGrp="1"/>
          </p:cNvSpPr>
          <p:nvPr/>
        </p:nvSpPr>
        <p:spPr>
          <a:xfrm>
            <a:off x="8001000" y="2667000"/>
            <a:ext cx="95250" cy="1524000"/>
          </a:xfrm>
          <a:prstGeom prst="roundRect">
            <a:avLst>
              <a:gd name="adj" fmla="val 50000"/>
            </a:avLst>
          </a:prstGeom>
          <a:solidFill>
            <a:srgbClr val="E8B347"/>
          </a:solidFill>
          <a:ln w="0">
            <a:solidFill>
              <a:srgbClr val="E8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FFE377-5883-4B39-A0E0-AE209E9C0368}"/>
              </a:ext>
            </a:extLst>
          </p:cNvPr>
          <p:cNvSpPr>
            <a:spLocks noGrp="1"/>
          </p:cNvSpPr>
          <p:nvPr/>
        </p:nvSpPr>
        <p:spPr>
          <a:xfrm>
            <a:off x="8229600" y="283845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08F710-C6AA-4308-9B7C-4E1D063E5DBB}"/>
              </a:ext>
            </a:extLst>
          </p:cNvPr>
          <p:cNvSpPr>
            <a:spLocks noGrp="1"/>
          </p:cNvSpPr>
          <p:nvPr/>
        </p:nvSpPr>
        <p:spPr>
          <a:xfrm>
            <a:off x="8229600" y="323850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Random Forest best distinguished the profiles, achieving 93.88% accuracy.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621A74-5E3D-497E-A184-BDA9889FF488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 i="0">
                <a:solidFill>
                  <a:srgbClr val="C9DB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9DBEA"/>
                </a:solidFill>
                <a:latin typeface="Aptos"/>
                <a:ea typeface="Aptos"/>
                <a:cs typeface="Aptos"/>
              </a:rPr>
              <a:t>Limitations: observational design, modest cluster separation, and no causal conclusions.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A853D9-4254-4AC5-9D98-18F46D5DB879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 i="0">
                <a:solidFill>
                  <a:srgbClr val="81E6D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1E6D9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281596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0">
          <a:noFill/>
          <a:prstDash val="solid"/>
        </a:ln>
      </a:spPr>
      <a:bodyPr anchor="ctr"/>
      <a:lstStyle>
        <a:defPPr algn="l">
          <a:defRPr sz="750" b="0" i="0" dirty="0">
            <a:solidFill>
              <a:srgbClr val="5B6B7A"/>
            </a:solidFill>
            <a:latin typeface="Aptos"/>
            <a:ea typeface="Aptos"/>
            <a:cs typeface="Aptos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</Words>
  <Application>Microsoft Office PowerPoint</Application>
  <DocSecurity>0</DocSecurity>
  <PresentationFormat>Widescreen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 Rafi Sayed</cp:lastModifiedBy>
  <cp:revision>1</cp:revision>
  <dcterms:created xsi:type="dcterms:W3CDTF">2026-06-19T16:36:39Z</dcterms:created>
  <dcterms:modified xsi:type="dcterms:W3CDTF">2026-06-20T18:12:49Z</dcterms:modified>
</cp:coreProperties>
</file>